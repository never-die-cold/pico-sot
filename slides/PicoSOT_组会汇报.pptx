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54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老师好。这次汇报的是 Jhuria 那篇 NE 2020，皮秒脉冲翻转垂直磁化。这次的参数和模型完全取自论文：宏观自旋参数和热扩散模型都是论文里的数据。数据量约 130 个 run，64×64 的宏自旋和 5×4 微米的全器件都有。先说结论：纯 SOT、不加任何温度依赖，阈值在 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；把论文的热通道加进来降到 10×10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，大致减半，这个比例和论文里的 9 掉到 6 是一致的。K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随温度塌缩是必要条件。绝对值比论文高出 1.5 倍左右，我倾向于认为问题出在论文没给脉冲波形和反射序列。下面先看论文里到底给了什么，再讲实现和结果。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这一页把论文里给的信息整理出来，方便后面对照。器件是 Ta/Pt/Co/Cu/Ta/Pt，Co 是垂直磁化层。翻转实验用 6 ps 脉冲，时域测量用 3.7 ps，都带传输线反射。实验的结论有两条：单个 6 ps 脉冲能确定性翻转；方向由 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和电流乘积的符号决定。注意论文那个 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不是测出来的阈值，是从 50 pJ 能量预算反推的上限。真正的模型在论文里都有：宏观自旋 LLG 加 SOT，再配一维热扩散。θ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拟合是 0.2，强电流模拟用的是 0.3；M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、各向异性、阻尼、居里温度、热容、热导、界面热导这些参数论文都给了。论文自己也有预测：纯 LLG 阈值 9×10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，含热 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，能量差两倍左右，最快 16 ps，把 SOT 关掉只靠热各向异性力矩也能翻。我们逐条去验。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实现说三点。SOT 这块，mumax3 没有原生项，用 Slonczewski 模块等效，固定层极化沿 y，Pol 和 EpsilonPrime 填 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和 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。有个坑：内核只读电流的 z 分量，所以 J 必须沿 z 写，写成 x 分量转矩恒为零，而且不报错。效率我们对着内核源码核过，ε=Pol/2 再乘 ħ/e，合起来正好是有效 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除以 1+α²，和论文的 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·C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差 0.95，就是 Gilbert 形式带来的。各向异性这次直接令 Ku1 等于论文的 K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，mumax3 的薄膜退磁场加上各向异性场恰好等于论文的 2Kz/μ0Ms 减 M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；relax 后 m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是 0.981，跟解析值 cos(atan(H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/B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)) 对得上。热模型论文用的是一维热扩散，我们在脚本里做等效的零维通道，系数照论文取，和一维有限差分最大差 5.1%。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这一页是加热模型，按论文的方程和参数来：热容 2.6×10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，热导率按 Wiedemann-Franz 取 9，界面热导 170，热源是焦耳热，用一个一维有限差分精确解。6×10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、6 ps 的时候 Co 层峰值只升 50 K，论文自己说大约 60 K，其中 15 K 是电子和声子没热平衡的部分，口径是符合的，冷却时间常数 245 ps。脚本里零维通道和这个解差 5%。峰值温度完全由电流决定，所以相图退化成一维阈值问题。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第一组验证看极性，对应论文 Fig.3。全器件 5×4 微米，1.2×10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，峰值温度 497 K。四个象限跑下来很干净，末态就等于负的 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乘电流的符号，都在 32 ps 左右过零，末态是均匀单畴，没有畴壁。H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=0 的对照，宏自旋在有加热的 10、12×10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和无加热的 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都不翻，器件 12×10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也不翻，说明面内场这个对称性破缺是必须的。这一页顺带验证了 SOT 接入的方向没搞反，因为极性规则是 SOT 的指纹。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第二组验证是时域动力学，对的是 Fig.4。电流压到 4×10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、脉宽 3.7 ps，避免翻过去：峰值温升 13.9 K，和热模型的 13.8 K 自洽。平行组两条曲线重合，29 ps 处下冲 5.9%；反平行组也重合，但幅度小很多，只有 1.9%，而且没有正上冲。去掉 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之后，正负电流曲线完全重合，只剩热退磁后的恢复。进动周期 44 ps 左右，论文口径大概 40 ps。反射我们按 30% 幅度、24 ps 延迟叠一个二次脉冲来近似，温度在 29 ps 出现次级峰，位置和论文的 echo 对得上。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这页是阈值，算这轮的核心结果。因为温升由电流唯一决定，横轴电流、纵轴末态磁化，就能把信息一次画全。四个系列：θ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取 0.2 和 0.3，加热开和关。三件事。纯 SOT 不加温度依赖也能翻，只是阈值高，θ=0.2 要 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，0.3 大概 13.5×10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。把论文的热通道打开，阈值掉到 9 到 10×10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，θ=0.3 是 8 到 9×10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，阈值比 1.5 到 2 倍，和论文的 9 掉到 6 一致，能量比也在论文的两倍量级。绝对值整体还是高 1.5 倍左右，后面会讲原因。另外加热档在 15 到 17×10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有个非单调窗口，翻一半又回去了。我们复核过：同参数重跑逐位一致；自由演化从 0.4 纳秒延到 1.5 纳秒，温度回到 300 K，结论不变，末态是干净的单畴 +0.981；再把 θ=0.2 从 21 扫到 30×10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，没有第二个窗口。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这页是脉宽和速度。左上固定 10×10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、无加热，扫脉冲宽度：12 ps 以内不翻，15 ps 翻一半，20 ps 以上完全翻。18 到 19 ps 是 FMR 半周期，也是论文说的能量最优窗口，对得上。这说明论文 6 ps 能翻，是在接近阈值电流下靠加热把势垒压下去的，6 ps 本身只有半周期三分之一，纯 SOT 推不动。下面是加热条件下的过零时间：阈值附近 68 ps，12×10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是 49 ps，20×10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是 26 ps。要注意 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那档峰值温度 851 K，已经超过居里温度，论文的热模型在那一带本来就不保证成立。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这组是机制分解。左边同样的 10×10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，关掉加热只掉到 0.7 就弹回来，开加热能翻；但电流加到 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，不开加热也翻，所以加热的作用是压阈值，不是机制上绕不开。中间把 SOT 关到接近零，只留热各向异性力矩，12×10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要 122 ps 才翻，14×10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是 80 ps，和论文的结论一致：纯热路径存在，但慢得多、也更热。右边是关键：把 K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的温度标度冻在 300 K，14×10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都翻不了，说明 K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塌缩这条通道必须有；只冻 M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而留着 K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(T)，10×10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已经到 +0.45，12×10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到 −0.46，接近翻转，所以 M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下降是帮忙的角色。补两点：H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=0 任何条件都不翻；开 Langevin 噪声后 9×10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从不翻变成部分翻，说明阈值附近对噪声敏感，不过 mumax3 噪声是固定种子，重复 run 逐位一样，概率统计暂时做不了。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能量用和论文一样的口径：对真实电流波形积分 J²，再乘电阻率和体积。6×10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、6 ps 是 39.7 pJ，和论文 40 pJ 的口径一致，但这一档在论文参数下翻不动。能翻的最低档是 10×10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、110 pJ，比论文 50 pJ 的预算高。根本原因是绝对阈值高了 1.5 倍，不是核算方法的问题。20×10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不开加热也能翻，能量 441 pJ。阈值档这块的差距是下一轮要优先处理的，我怀疑根子在波形口径上。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这页是逐项比对。对上的有：极性规则、Fig.4 的周期、纯热路径、加热和无加热的能量比量级。没完全对上的是：绝对阈值整体高 1.5 倍，最快翻转 16 对 26 ps，能量预算还没到。偏高最可能是论文没公开脉冲波形和电缆反射，我们只能用 sech² 近似，而波形直接决定注入的角动量。还有高电流区要注意，1.9×10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以上模型温度过 T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，M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截断成零，这接近论文用垂直场实验排除的 HAMR 情形，像 20×10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加热档这种结果只能当参考。最后，均匀宏自旋没有成核和畴壁，概率统计因为固定种子也还没做。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备份页。左边是脚本分工和跑法：主模板做快速扫描，fig4 脚本做过程曲线，fig3 脚本做全器件，heat_model.py 单独标定加热。run_case.py 管参数替换和归档，能溯源。右边是踩坑速查。最容易搞错的是各向异性的写法，最危险的是自适应步长把 6 ps 拉成 27.6 ps，会得出假结论。噪声固定种子是下一步要解决的。完整的映射写在 docs/paper_replica.md 里。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皮秒电流脉冲 SOT 翻转的 mumax3 复现</a:t>
            </a:r>
            <a:endParaRPr sz="32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1796288"/>
            <a:ext cx="6949440" cy="201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体系：Ta(5)/Pt(4)/Co(1)/Cu(1)/Ta(4)/Pt(1) nm，Co 是垂直磁化层，过流区 5×4 µm²</a:t>
            </a:r>
            <a:endParaRPr sz="13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结论：单个 6 ps 脉冲即可确定性翻转；</a:t>
            </a:r>
            <a:endParaRPr sz="13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</a:t>
            </a:r>
            <a:r>
              <a:rPr sz="13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</a:t>
            </a: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上限 6×10</a:t>
            </a:r>
            <a:r>
              <a:rPr sz="13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A/m² 出自 50 pJ 能量预算；</a:t>
            </a:r>
            <a:endParaRPr sz="13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lang="zh-CN"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翻转</a:t>
            </a: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由 H</a:t>
            </a:r>
            <a:r>
              <a:rPr sz="13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与电流的乘积符号决定</a:t>
            </a:r>
            <a:endParaRPr sz="13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模型：宏观自旋 LLG + SOT + 热扩散的 0D 等效通道，参数取自论文</a:t>
            </a:r>
            <a:endParaRPr sz="13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数据量：约 130 个 mumax3 run（64×64 宏自旋 + 500×400 全器件）</a:t>
            </a:r>
            <a:endParaRPr sz="13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device_st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0243" y="1701165"/>
            <a:ext cx="3669572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2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如何仿真</a:t>
            </a:r>
            <a:endParaRPr lang="zh-CN"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60704"/>
          <a:ext cx="7040880" cy="39403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3093"/>
                <a:gridCol w="5997786"/>
              </a:tblGrid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项目</a:t>
                      </a:r>
                      <a:endParaRPr sz="105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论文内容</a:t>
                      </a:r>
                      <a:endParaRPr sz="105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器件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Ta(5)/Pt(4)/Co(1)/Cu(1)/Ta(4)/Pt(1) nm，Co 为 PMA 层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脉冲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翻转 6 ps；时域实验 3.7 ps；</a:t>
                      </a:r>
                      <a:r>
                        <a:rPr 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（使用的是高斯脉冲</a:t>
                      </a:r>
                      <a:r>
                        <a:rPr lang="en-US" alt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</a:t>
                      </a:r>
                      <a:r>
                        <a:rPr 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传输线</a:t>
                      </a:r>
                      <a:r>
                        <a:rPr 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反射）</a:t>
                      </a:r>
                      <a:endParaRPr lang="zh-CN"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8387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实验结论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单个 6 ps 脉冲确定性翻转；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hlinkClick r:id="rId1" action="ppaction://hlinksldjump"/>
                        </a:rPr>
                        <a:t>方向 = −sign(H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hlinkClick r:id="rId1" action="ppaction://hlinksldjump"/>
                        </a:rPr>
                        <a:t>x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hlinkClick r:id="rId1" action="ppaction://hlinksldjump"/>
                        </a:rPr>
                        <a:t>·I)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电流口径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J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≈ 6×10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A/m² 为能量上限（&lt;50 pJ，</a:t>
                      </a:r>
                      <a:r>
                        <a:rPr 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从论文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Methods</a:t>
                      </a:r>
                      <a:r>
                        <a:rPr 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估计的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en-US" altLang="zh-CN" sz="1050" b="0" i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charset="0"/>
                        <a:ea typeface="微软雅黑" panose="020B0503020204020204" charset="-122"/>
                        <a:cs typeface="Cambria Math" panose="02040503050406030204" charset="0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仿真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宏观自旋 LLG + SOT + 1D 热扩散；θ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DL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=0.2（强电流模拟用 0.3）、θ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FL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=0.05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(300K)=1.0×10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A/m、B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K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=0.8 T、α=0.23、T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=800 K、C=2.6×10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、Λ=9 W/mK、G=170 MW/m²K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预测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纯 LLG J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≈9×10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A/m²；含热 ≈6×10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；最快 16 ps；θ=0 也能翻</a:t>
                      </a:r>
                      <a:r>
                        <a:rPr lang="zh-CN"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转</a:t>
                      </a:r>
                      <a:endParaRPr lang="zh-CN"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vic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713" y="1060704"/>
            <a:ext cx="3669572" cy="26517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4190365" y="2917825"/>
                <a:ext cx="4064000" cy="4159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𝐸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=∫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𝐼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²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𝑅𝑑𝑡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𝜌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·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𝑉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·∫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𝐽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²(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𝑡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𝑑𝑡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≈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0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75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·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𝐽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²·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𝜌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·</m:t>
                      </m:r>
                      <m:sSub>
                        <m:sSubPr>
                          <m:ctrlPr>
                            <a:rPr lang="en-US" altLang="zh-CN" sz="1000" b="0" i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charset="0"/>
                              <a:ea typeface="微软雅黑" panose="020B0503020204020204" charset="-122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000" b="0" i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𝜏</m:t>
                          </m:r>
                        </m:e>
                        <m:sub>
                          <m:r>
                            <a:rPr lang="en-US" altLang="zh-CN" sz="1000" b="0" i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charset="0"/>
                              <a:ea typeface="微软雅黑" panose="020B0503020204020204" charset="-122"/>
                              <a:cs typeface="Cambria Math" panose="02040503050406030204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·</m:t>
                      </m:r>
                      <m:r>
                        <a:rPr lang="en-US" altLang="zh-CN" sz="1000" b="0" i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ea typeface="微软雅黑" panose="020B0503020204020204" charset="-122"/>
                          <a:cs typeface="Cambria Math" panose="02040503050406030204" charset="0"/>
                        </a:rPr>
                        <m:t>𝑉</m:t>
                      </m:r>
                    </m:oMath>
                  </m:oMathPara>
                </a14:m>
                <a:endParaRPr lang="en-US" altLang="zh-CN" sz="1000" b="0" i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charset="0"/>
                  <a:ea typeface="微软雅黑" panose="020B0503020204020204" charset="-122"/>
                  <a:cs typeface="Cambria Math" panose="02040503050406030204" charset="0"/>
                </a:endParaRPr>
              </a:p>
              <a:p>
                <a:endParaRPr lang="zh-CN" altLang="en-US" sz="1000"/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365" y="2917825"/>
                <a:ext cx="4064000" cy="41592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3980180" y="3467100"/>
                <a:ext cx="4064000" cy="245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dm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dt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=−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𝛾</m:t>
                      </m:r>
                      <m:r>
                        <m:rPr>
                          <m:sty m:val="p"/>
                        </m:rP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m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×</m:t>
                      </m:r>
                      <m:sSub>
                        <m:sSubPr>
                          <m:ctrlPr>
                            <a:rPr lang="en-US" altLang="zh-CN" sz="1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e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ff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m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×(</m:t>
                      </m:r>
                      <m:r>
                        <m:rPr>
                          <m:sty m:val="p"/>
                        </m:rP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dm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dt</m:t>
                      </m:r>
                      <m:r>
                        <a:rPr lang="en-US" altLang="zh-CN" sz="1000" i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0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180" y="3467100"/>
                <a:ext cx="4064000" cy="24511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2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mumax3</a:t>
            </a:r>
            <a:r>
              <a:rPr lang="zh-CN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</a:t>
            </a:r>
            <a:r>
              <a:rPr lang="en-US" altLang="zh-CN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sot</a:t>
            </a:r>
            <a:r>
              <a:rPr lang="zh-CN" altLang="en-US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的方程</a:t>
            </a:r>
            <a:endParaRPr lang="zh-CN" altLang="en-US"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6903720" cy="3611880"/>
          </a:xfrm>
          <a:prstGeom prst="rect">
            <a:avLst/>
          </a:prstGeom>
          <a:solidFill>
            <a:srgbClr val="F4F4F4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9728" rIns="73152" bIns="54864" rtlCol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FixedLayer   = vector(0, 1, 0)   // σ 沿 y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Pol          = 0.20              // θ_D</a:t>
            </a:r>
            <a:r>
              <a:rPr lang="en-US"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EpsilonPrime = 0.05              // θ_FL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Lambda       = 1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DisableZhangLiTorque = true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J = vector(0, 0, -I_sign*Jp*sech²)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各向异性：直接令 Ku1 = Kz(T)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H_z = (2Kz/μ0Ms - Ms) m_z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温标：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 = 1-(T/Tc)^1.7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Msat = Ms0*fr;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Ku1 = Kz0*fr^3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加热：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dT/dt = rho*J^2/C - (T-Troom)/tau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tau = C*d/G = 245 ps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时间精确：RK4 + 固定步长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SetSolver(4);  FixDt = 5e-14     // 0.05 ps</a:t>
            </a:r>
            <a:endParaRPr sz="110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543800" y="1097280"/>
            <a:ext cx="4160520" cy="18853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SOT 效率按内核源码核对过：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Pol=θ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、Λ=1 时 ε=Pol/2，与论文的 θ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·C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数值一致</a:t>
            </a:r>
            <a:r>
              <a:rPr lang="zh-CN"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令 Ku1=K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后，relax 平衡态 m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=0.981，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等于 cos[atan(H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/B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)]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加热用 0D 等效通道，与 1D 有限差分解最大偏差 5.1%（0–450 ps）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加热模型：热扩散与 0D 等效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heat_mode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590" y="960120"/>
            <a:ext cx="1038606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83480"/>
            <a:ext cx="11201400" cy="859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按热扩散方程解 1D 热扩散：C=2.6×10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J/m³K、Λ=9 W/mK、G=170 MW/m²K、q=ρJ²、上表面绝热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A/m² / 6 ps 时 Co 层峰值升温 +50.4 K（论文自述约 60 K，其中约 15 K 是电子–声子失配）；冷却 τ=245 ps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T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由 J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唯一决定：T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≈ 300 + 50.4·(J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/6×10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)² K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2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极性判据</a:t>
            </a:r>
            <a:r>
              <a:rPr lang="zh-CN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</a:t>
            </a:r>
            <a:endParaRPr lang="zh-CN"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11201400" cy="3448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末态符号 = −sign(H</a:t>
            </a:r>
            <a:r>
              <a:rPr sz="1500" b="1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I)</a:t>
            </a:r>
            <a:r>
              <a:rPr lang="en-US"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 +Mz 出发</a:t>
            </a:r>
            <a:r>
              <a:rPr lang="zh-CN"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开始</a:t>
            </a:r>
            <a:r>
              <a:rPr lang="zh-CN"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</a:t>
            </a:r>
            <a:endParaRPr lang="zh-CN" sz="15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64208"/>
          <a:ext cx="5212078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25"/>
                <a:gridCol w="776267"/>
                <a:gridCol w="1663429"/>
                <a:gridCol w="998057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H</a:t>
                      </a:r>
                      <a:r>
                        <a:rPr sz="1100" b="1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x</a:t>
                      </a:r>
                      <a:endParaRPr sz="1100" b="1" i="0" baseline="-25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</a:t>
                      </a:r>
                      <a:r>
                        <a:rPr sz="1100" b="1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sign</a:t>
                      </a:r>
                      <a:endParaRPr sz="1100" b="1" i="0" baseline="-25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</a:t>
                      </a:r>
                      <a:r>
                        <a:rPr sz="1100" b="1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z, final</a:t>
                      </a:r>
                      <a:endParaRPr sz="1100" b="1" i="0" baseline="-25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结果</a:t>
                      </a:r>
                      <a:endParaRPr sz="110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+160 mT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−0.971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翻转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−160 mT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+0.970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不翻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+160 mT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−1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+0.970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不翻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−160 mT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−1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−0.971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翻转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0（宏自旋/器件）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±1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+1.000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不翻</a:t>
                      </a:r>
                      <a:endParaRPr sz="11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25696"/>
            <a:ext cx="52120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全器件：5×4 µm、J</a:t>
            </a:r>
            <a:r>
              <a:rPr sz="1100" b="0" i="0" baseline="-25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pk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=1.2×10</a:t>
            </a:r>
            <a:r>
              <a:rPr sz="1100" b="0" i="0" baseline="30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、T</a:t>
            </a:r>
            <a:r>
              <a:rPr sz="1100" b="0" i="0" baseline="-25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=497 K，t</a:t>
            </a:r>
            <a:r>
              <a:rPr sz="1100" b="0" i="0" baseline="-25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≈32 ps；末态为均匀单畴（只有开边界的边缘列被钉扎）。</a:t>
            </a:r>
            <a:endParaRPr sz="1100" b="0" i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</a:t>
            </a:r>
            <a:r>
              <a:rPr sz="1100" b="0" i="0" baseline="-25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=0 对照：宏自旋（加热 10/12×10</a:t>
            </a:r>
            <a:r>
              <a:rPr sz="1100" b="0" i="0" baseline="30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、无加热 20×10</a:t>
            </a:r>
            <a:r>
              <a:rPr sz="1100" b="0" i="0" baseline="30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）与器件（12×10</a:t>
            </a:r>
            <a:r>
              <a:rPr sz="1100" b="0" i="0" baseline="30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）都不翻。面内场确实是必需的对称性破缺。</a:t>
            </a:r>
            <a:endParaRPr sz="1100" b="0" i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Picture 7" descr="q_quadran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8677" y="1591056"/>
            <a:ext cx="531340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2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时域动力学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fig4_ful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073075"/>
            <a:ext cx="7589520" cy="2602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75320" y="1362456"/>
            <a:ext cx="34290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3.7 ps、J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=4×10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：温升峰值 +13.9 K，heat_model 预测 13.8 K，自洽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平行组 (H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+,I+) 与 (H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−,I−) 重合，29 ps 处下冲 −5.9%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反平行组 (H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+,I−) 与 (H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−,I+) 重合，只有 −1.9%，没有正上冲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去掉 H</a:t>
            </a:r>
            <a:r>
              <a:rPr sz="120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：±I 曲线重合，只剩退磁后的恢复，进动周期约 44 ps（论文约 40 ps）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反射按 0.3 幅度、24 ps 延迟叠加，T(t) 在 29 ps 出现次级峰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2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SOT </a:t>
            </a:r>
            <a:r>
              <a:rPr lang="zh-CN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中焦耳热机制对阈值的影响</a:t>
            </a: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（θ</a:t>
            </a:r>
            <a:r>
              <a:rPr sz="2300" b="1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=0.2 / 0.3）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phase_m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38204"/>
            <a:ext cx="6126480" cy="4020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1225296"/>
            <a:ext cx="4892040" cy="1832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en-US"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	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</a:t>
            </a:r>
            <a:r>
              <a:rPr lang="zh-CN"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条曲线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：θ</a:t>
            </a:r>
            <a:r>
              <a:rPr sz="125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DL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=0.2 / 0.3，各配加热开、关</a:t>
            </a:r>
            <a:endParaRPr sz="12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温度取 T</a:t>
            </a:r>
            <a:r>
              <a:rPr sz="125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= 300 + 50.4·(J</a:t>
            </a:r>
            <a:r>
              <a:rPr sz="125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/6×10</a:t>
            </a:r>
            <a:r>
              <a:rPr sz="12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)²</a:t>
            </a:r>
            <a:endParaRPr sz="12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en-US"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	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加热阈值：(9,10]×10</a:t>
            </a:r>
            <a:r>
              <a:rPr sz="12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（θ=0.2）、(8,9]×10</a:t>
            </a:r>
            <a:r>
              <a:rPr sz="12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（θ=0.3），</a:t>
            </a:r>
            <a:r>
              <a:rPr lang="en-US"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	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阈值比约 1.5–2 倍</a:t>
            </a:r>
            <a:endParaRPr sz="12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en-US" sz="1250" b="0" i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	</a:t>
            </a:r>
            <a:r>
              <a:rPr sz="1250" b="0" i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15–17×10</a:t>
            </a:r>
            <a:r>
              <a:rPr sz="1250" b="0" i="0" baseline="3000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50" b="0" i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有一段非单调的不翻</a:t>
            </a:r>
            <a:r>
              <a:rPr lang="zh-CN" sz="1250" b="0" i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区间（？）</a:t>
            </a:r>
            <a:endParaRPr lang="zh-CN" sz="1250" b="0" i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en-US"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	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复核</a:t>
            </a:r>
            <a:r>
              <a:rPr lang="zh-CN"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之后扫描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 30×10</a:t>
            </a:r>
            <a:r>
              <a:rPr sz="12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没有</a:t>
            </a:r>
            <a:r>
              <a:rPr lang="zh-CN" sz="12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出现这一情况。</a:t>
            </a:r>
            <a:endParaRPr sz="12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87235" y="4294505"/>
            <a:ext cx="4497705" cy="635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无焦耳加热机制</a:t>
            </a:r>
            <a:r>
              <a:rPr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时，纯 SOT 阈值 20×10</a:t>
            </a:r>
            <a:r>
              <a:rPr sz="1350" b="1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A/m²；</a:t>
            </a:r>
            <a:endParaRPr sz="135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算上焦耳热时</a:t>
            </a:r>
            <a:r>
              <a:rPr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降到 10×10</a:t>
            </a:r>
            <a:r>
              <a:rPr sz="1350" b="1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，大致减半，论文里的 9×10</a:t>
            </a:r>
            <a:r>
              <a:rPr sz="1350" b="1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到 6×10</a:t>
            </a:r>
            <a:r>
              <a:rPr sz="1350" b="1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35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一致。</a:t>
            </a:r>
            <a:endParaRPr sz="135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2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脉宽</a:t>
            </a:r>
            <a:r>
              <a:rPr lang="en-US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翻转速度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phase_trac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13962"/>
            <a:ext cx="6400800" cy="2297187"/>
          </a:xfrm>
          <a:prstGeom prst="rect">
            <a:avLst/>
          </a:prstGeom>
        </p:spPr>
      </p:pic>
      <p:pic>
        <p:nvPicPr>
          <p:cNvPr id="6" name="Picture 5" descr="phase_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493756"/>
            <a:ext cx="6400800" cy="2366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78040" y="1042415"/>
            <a:ext cx="4526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θ=0.2、10×10</a:t>
            </a:r>
            <a:r>
              <a:rPr sz="120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、无加热：12 ps 以内不翻，15 ps 部分翻（−0.93），20/30 ps 完全翻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FMR 半周期约 18–19 ps，与论文说的能量最优 10–20 ps 对得上</a:t>
            </a:r>
            <a:endParaRPr sz="120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78040" y="3054096"/>
          <a:ext cx="4526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8925"/>
                <a:gridCol w="169735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J</a:t>
                      </a:r>
                      <a:r>
                        <a:rPr sz="1050" b="1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</a:t>
                      </a:r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（θ=0.2 加热）</a:t>
                      </a:r>
                      <a:endParaRPr sz="105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</a:t>
                      </a:r>
                      <a:r>
                        <a:rPr sz="1050" b="1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cross</a:t>
                      </a:r>
                      <a:endParaRPr sz="1050" b="1" i="0" baseline="-25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endParaRPr sz="1050" b="0" i="0" baseline="30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68.3 ps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endParaRPr sz="1050" b="0" i="0" baseline="30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49.2 ps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endParaRPr sz="1050" b="0" i="0" baseline="30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41.1 ps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endParaRPr sz="1050" b="0" i="0" baseline="30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26.2 ps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78040" y="4928616"/>
            <a:ext cx="4526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速度随电流提升，但 20×10</a:t>
            </a:r>
            <a:r>
              <a:rPr sz="1100" b="0" i="0" baseline="30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那档 T</a:t>
            </a:r>
            <a:r>
              <a:rPr sz="1100" b="0" i="0" baseline="-25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=851 K，已过 T</a:t>
            </a:r>
            <a:r>
              <a:rPr sz="1100" b="0" i="0" baseline="-2500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</a:t>
            </a:r>
            <a:r>
              <a:rPr sz="1100" b="0" i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，进入热模型不保证有效的区间。</a:t>
            </a:r>
            <a:endParaRPr sz="1100" b="0" i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2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lang="zh-CN"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翻转</a:t>
            </a: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201400" cy="3448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SOT ，K</a:t>
            </a:r>
            <a:r>
              <a:rPr sz="1500" b="1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(T) 塌缩</a:t>
            </a:r>
            <a:r>
              <a:rPr lang="zh-CN"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sz="15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热各向异性力矩</a:t>
            </a:r>
            <a:endParaRPr lang="zh-CN" sz="15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4974336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(a) 加热开/关：10×10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只有加热能翻，20×10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无加热也能翻，差别在阈值而不是机制</a:t>
            </a:r>
            <a:endParaRPr sz="11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(b) θ≈0 加加热：12×10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在 122.5 ps 翻、14×10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在 80.2 ps 翻（与论文一致）</a:t>
            </a:r>
            <a:endParaRPr sz="11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63640" y="4974336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(c) ScaleKz=0 冻结 K</a:t>
            </a:r>
            <a:r>
              <a:rPr sz="115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：14×10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不翻；只冻结 M</a:t>
            </a:r>
            <a:r>
              <a:rPr sz="115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：10×10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到 +0.45、12×10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到 −0.46</a:t>
            </a:r>
            <a:endParaRPr sz="11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H</a:t>
            </a:r>
            <a:r>
              <a:rPr sz="1150" b="0" i="0" baseline="-25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=0 任何条件都不翻；Noise=1（固定种子）时 9×10</a:t>
            </a:r>
            <a:r>
              <a:rPr sz="1150" b="0" i="0" baseline="300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r>
              <a:rPr sz="1150" b="0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变成部分翻（−0.32）</a:t>
            </a:r>
            <a:endParaRPr sz="1150" b="0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Picture 8" descr="mechanism_compa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96" y="1499616"/>
            <a:ext cx="11066646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能量核算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" name="Picture 4" descr="energy_ba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71016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800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 = ∫ J²(t) dt · ρ · V
（ρ = 81 µΩ·cm，V = 5×4 µm² × 15 nm）</a:t>
            </a:r>
            <a:endParaRPr sz="1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903720" y="1965960"/>
          <a:ext cx="48005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1457"/>
                <a:gridCol w="979714"/>
                <a:gridCol w="19594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条件</a:t>
                      </a:r>
                      <a:endParaRPr sz="105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能量</a:t>
                      </a:r>
                      <a:endParaRPr sz="105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结果</a:t>
                      </a:r>
                      <a:endParaRPr sz="105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（无加热）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39.7 pJ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不翻（论文上限口径）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（加热）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110.4 pJ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翻（模型阈值）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（加热）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158.9 pJ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翻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（无加热）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441.4 pJ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翻（纯 SOT）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20×10</a:t>
                      </a:r>
                      <a:r>
                        <a:rPr sz="105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（加热）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441.4 pJ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翻（T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851 K &gt; T</a:t>
                      </a:r>
                      <a:r>
                        <a:rPr sz="105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</a:t>
                      </a:r>
                      <a:r>
                        <a:rPr sz="105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sz="105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与论文的逐项比对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247118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1110"/>
                <a:gridCol w="1977515"/>
                <a:gridCol w="5314573"/>
                <a:gridCol w="185392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项目</a:t>
                      </a:r>
                      <a:endParaRPr sz="100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</a:t>
                      </a:r>
                      <a:endParaRPr sz="100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本复现</a:t>
                      </a:r>
                      <a:endParaRPr sz="100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判断</a:t>
                      </a:r>
                      <a:endParaRPr sz="1000" b="1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E8E8E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极性规则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−sign(H</a:t>
                      </a:r>
                      <a:r>
                        <a:rPr sz="100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x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·I)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−sign(H</a:t>
                      </a:r>
                      <a:r>
                        <a:rPr sz="100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x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·I)（宏自旋 + 全器件）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一致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Fig.4 进动周期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~40 ps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≈44 ps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一致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纯 LLG 阈值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（θ=0.3）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~13.5×10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（θ=0.3）/ 20×10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（θ=0.2）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偏高 ~1.5×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含热阈值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endParaRPr sz="1000" b="0" i="0" baseline="30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(8,9]×10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（θ=0.3）/ (9,10]×10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（θ=0.2）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偏高 ~1.5×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加热/无加热能量比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~2×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~2.3–4×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量级一致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纯热翻转（θ=0）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论文可翻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/ 122 ps、14×10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/ 80 ps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一致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最快翻转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 ps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26 ps（2×10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13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加热档，T</a:t>
                      </a:r>
                      <a:r>
                        <a:rPr sz="100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&gt;T</a:t>
                      </a:r>
                      <a:r>
                        <a:rPr sz="1000" b="0" i="0" baseline="-25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偏高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能量预算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&lt;50 pJ @6×10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endParaRPr sz="1000" b="0" i="0" baseline="3000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6×10</a:t>
                      </a:r>
                      <a:r>
                        <a:rPr sz="1000" b="0" i="0" baseline="3000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不翻；阈值档 110 pJ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未达预算</a:t>
                      </a:r>
                      <a:endParaRPr sz="1000" b="0" i="0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13716" marB="13716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备份：脚本、运行与踩坑</a:t>
            </a:r>
            <a:endParaRPr sz="2300" b="1" i="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21207" y="795528"/>
            <a:ext cx="11155680" cy="12801"/>
          </a:xfrm>
          <a:prstGeom prst="rect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92840" y="645566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1000" b="0" i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088136"/>
            <a:ext cx="6858000" cy="2880360"/>
          </a:xfrm>
          <a:prstGeom prst="rect">
            <a:avLst/>
          </a:prstGeom>
          <a:solidFill>
            <a:srgbClr val="F4F4F4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9728" rIns="73152" bIns="54864" rtlCol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脚本（simulations/mumax3_sot/）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macrospin_switch.mx3   64×64 阈值/机制扫描（主模板）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fig4_dynamics.mx3      无限薄膜 + 反射，Fig.4 用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fig3_switching.mx3     500×400×10 nm（5×4 µm 过流区）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heat_model.py          热扩散 1D FD 标定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运行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python run_case.py macrospin_switch.mx3 si_h_t20_Jp10 \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--set Jp=10e12 Heating=1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→ runs/&lt;tag&gt;/ 自动保存脚本副本与 table/log/ovf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→ summary.csv 汇总（runs/ 为本地结果目录）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→ 定稿图拷入 docs/figures/ 统一归档</a:t>
            </a:r>
            <a:endParaRPr sz="1050" b="0" i="0">
              <a:solidFill>
                <a:srgbClr val="262626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3784</Words>
  <Application>WPS 演示</Application>
  <PresentationFormat>On-screen Show (4:3)</PresentationFormat>
  <Paragraphs>344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5" baseType="lpstr">
      <vt:lpstr>Arial</vt:lpstr>
      <vt:lpstr>宋体</vt:lpstr>
      <vt:lpstr>Wingdings</vt:lpstr>
      <vt:lpstr>Arial</vt:lpstr>
      <vt:lpstr>微软雅黑</vt:lpstr>
      <vt:lpstr>Cambria Math</vt:lpstr>
      <vt:lpstr>MS Mincho</vt:lpstr>
      <vt:lpstr>Consolas</vt:lpstr>
      <vt:lpstr>Arial Unicode MS</vt:lpstr>
      <vt:lpstr>Calibri</vt:lpstr>
      <vt:lpstr>MS PGothic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周生瑞</cp:lastModifiedBy>
  <cp:revision>5</cp:revision>
  <dcterms:created xsi:type="dcterms:W3CDTF">2013-01-27T09:14:00Z</dcterms:created>
  <dcterms:modified xsi:type="dcterms:W3CDTF">2026-09-17T07:45:34Z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2052-12.1.0.28022</vt:lpwstr>
  </property>
  <property fmtid="{D5CDD505-2E9C-101B-9397-08002B2CF9AE}" pid="3" name="ICV">
    <vt:lpwstr>3EC4C426565A4D758F86359D68FA2541_12</vt:lpwstr>
  </property>
</Properties>
</file>